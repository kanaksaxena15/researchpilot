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4FD504-1844-4736-ACBE-2EC516EBFD1C}" v="12" dt="2026-07-12T19:35:34.544"/>
  </p1510:revLst>
</p1510:revInfo>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42" autoAdjust="0"/>
    <p:restoredTop sz="94660"/>
  </p:normalViewPr>
  <p:slideViewPr>
    <p:cSldViewPr snapToGrid="0">
      <p:cViewPr>
        <p:scale>
          <a:sx n="90" d="100"/>
          <a:sy n="90" d="100"/>
        </p:scale>
        <p:origin x="-1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897020467"/>
              </p:ext>
            </p:extLst>
          </p:nvPr>
        </p:nvGraphicFramePr>
        <p:xfrm>
          <a:off x="1299257" y="2600315"/>
          <a:ext cx="10122276" cy="2335297"/>
        </p:xfrm>
        <a:graphic>
          <a:graphicData uri="http://schemas.openxmlformats.org/drawingml/2006/table">
            <a:tbl>
              <a:tblPr>
                <a:noFill/>
                <a:tableStyleId>{F063BE5B-8E01-4B91-9C5C-8479B17E1E5F}</a:tableStyleId>
              </a:tblPr>
              <a:tblGrid>
                <a:gridCol w="2224719">
                  <a:extLst>
                    <a:ext uri="{9D8B030D-6E8A-4147-A177-3AD203B41FA5}">
                      <a16:colId xmlns:a16="http://schemas.microsoft.com/office/drawing/2014/main" val="20000"/>
                    </a:ext>
                  </a:extLst>
                </a:gridCol>
                <a:gridCol w="2632519">
                  <a:extLst>
                    <a:ext uri="{9D8B030D-6E8A-4147-A177-3AD203B41FA5}">
                      <a16:colId xmlns:a16="http://schemas.microsoft.com/office/drawing/2014/main" val="20001"/>
                    </a:ext>
                  </a:extLst>
                </a:gridCol>
                <a:gridCol w="2632519">
                  <a:extLst>
                    <a:ext uri="{9D8B030D-6E8A-4147-A177-3AD203B41FA5}">
                      <a16:colId xmlns:a16="http://schemas.microsoft.com/office/drawing/2014/main" val="20002"/>
                    </a:ext>
                  </a:extLst>
                </a:gridCol>
                <a:gridCol w="2632519">
                  <a:extLst>
                    <a:ext uri="{9D8B030D-6E8A-4147-A177-3AD203B41FA5}">
                      <a16:colId xmlns:a16="http://schemas.microsoft.com/office/drawing/2014/main" val="20003"/>
                    </a:ext>
                  </a:extLst>
                </a:gridCol>
              </a:tblGrid>
              <a:tr h="1048749">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286548">
                <a:tc>
                  <a:txBody>
                    <a:bodyPr/>
                    <a:lstStyle/>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Kanak Saxena</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600" u="none" strike="noStrike" cap="none" dirty="0"/>
                        <a:t>Kanaksaxena1527@gmail.com</a:t>
                      </a:r>
                      <a:endParaRPr sz="16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9125084690</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 </a:t>
            </a:r>
            <a:r>
              <a:rPr lang="en-US" sz="2400" b="1" dirty="0">
                <a:highlight>
                  <a:srgbClr val="FFFF00"/>
                </a:highlight>
              </a:rPr>
              <a:t>Education</a:t>
            </a:r>
            <a:r>
              <a:rPr lang="en-US" sz="2400" b="1" i="0" u="none" strike="noStrike" cap="none" dirty="0">
                <a:solidFill>
                  <a:srgbClr val="000000"/>
                </a:solidFill>
                <a:highlight>
                  <a:srgbClr val="FFFF00"/>
                </a:highlight>
                <a:latin typeface="Arial"/>
                <a:ea typeface="Arial"/>
                <a:cs typeface="Arial"/>
                <a:sym typeface="Arial"/>
              </a:rPr>
              <a:t> ]</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Tile – </a:t>
            </a:r>
            <a:r>
              <a:rPr lang="en-US" sz="2400" b="1" i="0" u="none" strike="noStrike" cap="none" dirty="0">
                <a:solidFill>
                  <a:srgbClr val="000000"/>
                </a:solidFill>
                <a:highlight>
                  <a:srgbClr val="FFFF00"/>
                </a:highlight>
                <a:latin typeface="Arial"/>
                <a:ea typeface="Arial"/>
                <a:cs typeface="Arial"/>
                <a:sym typeface="Arial"/>
              </a:rPr>
              <a:t>[</a:t>
            </a:r>
            <a:r>
              <a:rPr lang="en-US" sz="2400" b="1" dirty="0" err="1">
                <a:solidFill>
                  <a:srgbClr val="002060"/>
                </a:solidFill>
                <a:highlight>
                  <a:srgbClr val="FFFF00"/>
                </a:highlight>
                <a:latin typeface="Times New Roman"/>
                <a:cs typeface="Times New Roman"/>
                <a:sym typeface="Times New Roman"/>
              </a:rPr>
              <a:t>ResearchPilot</a:t>
            </a:r>
            <a:r>
              <a:rPr lang="en-US" sz="2400" b="1" dirty="0">
                <a:solidFill>
                  <a:srgbClr val="002060"/>
                </a:solidFill>
                <a:highlight>
                  <a:srgbClr val="FFFF00"/>
                </a:highlight>
                <a:latin typeface="Times New Roman"/>
                <a:cs typeface="Times New Roman"/>
                <a:sym typeface="Times New Roman"/>
              </a:rPr>
              <a:t> AI</a:t>
            </a:r>
            <a:r>
              <a:rPr lang="en-US" sz="2400" b="1" i="0" u="none" strike="noStrike" cap="none" dirty="0">
                <a:solidFill>
                  <a:srgbClr val="000000"/>
                </a:solidFill>
                <a:highlight>
                  <a:srgbClr val="FFFF00"/>
                </a:highlight>
                <a:latin typeface="Arial"/>
                <a:ea typeface="Arial"/>
                <a:cs typeface="Arial"/>
                <a:sym typeface="Arial"/>
              </a:rPr>
              <a:t>]</a:t>
            </a:r>
            <a:endParaRPr sz="2400" b="1" i="0" u="none" strike="noStrike" cap="none" dirty="0">
              <a:solidFill>
                <a:srgbClr val="000000"/>
              </a:solidFill>
              <a:highlight>
                <a:srgbClr val="FFFF00"/>
              </a:highlight>
              <a:latin typeface="Arial"/>
              <a:ea typeface="Arial"/>
              <a:cs typeface="Arial"/>
              <a:sym typeface="Arial"/>
            </a:endParaRPr>
          </a:p>
        </p:txBody>
      </p:sp>
      <p:sp>
        <p:nvSpPr>
          <p:cNvPr id="90" name="Google Shape;90;p2"/>
          <p:cNvSpPr txBox="1"/>
          <p:nvPr/>
        </p:nvSpPr>
        <p:spPr>
          <a:xfrm>
            <a:off x="1211005" y="5210667"/>
            <a:ext cx="6456743"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Recommended font style and size:</a:t>
            </a:r>
            <a:br>
              <a:rPr lang="en-US" sz="2000" b="0" i="0" u="none" strike="noStrike" cap="none">
                <a:solidFill>
                  <a:srgbClr val="FF0000"/>
                </a:solidFill>
                <a:latin typeface="Arial"/>
                <a:ea typeface="Arial"/>
                <a:cs typeface="Arial"/>
                <a:sym typeface="Arial"/>
              </a:rPr>
            </a:br>
            <a:br>
              <a:rPr lang="en-US" sz="2000" b="0" i="0" u="none" strike="noStrike" cap="none">
                <a:solidFill>
                  <a:srgbClr val="000000"/>
                </a:solidFill>
                <a:latin typeface="Arial"/>
                <a:ea typeface="Arial"/>
                <a:cs typeface="Arial"/>
                <a:sym typeface="Arial"/>
              </a:rPr>
            </a:br>
            <a:r>
              <a:rPr lang="en-US" sz="2000" b="0" i="0" u="none" strike="noStrike" cap="none">
                <a:solidFill>
                  <a:srgbClr val="FF0000"/>
                </a:solidFill>
                <a:latin typeface="Arial"/>
                <a:ea typeface="Arial"/>
                <a:cs typeface="Arial"/>
                <a:sym typeface="Arial"/>
              </a:rPr>
              <a:t>Font Style: Arial</a:t>
            </a:r>
            <a:br>
              <a:rPr lang="en-US" sz="2000" b="0" i="0" u="none" strike="noStrike" cap="none">
                <a:solidFill>
                  <a:srgbClr val="FF0000"/>
                </a:solidFill>
                <a:latin typeface="Arial"/>
                <a:ea typeface="Arial"/>
                <a:cs typeface="Arial"/>
                <a:sym typeface="Arial"/>
              </a:rPr>
            </a:br>
            <a:r>
              <a:rPr lang="en-US" sz="2000" b="0" i="0" u="none" strike="noStrike" cap="none">
                <a:solidFill>
                  <a:srgbClr val="FF0000"/>
                </a:solidFill>
                <a:latin typeface="Arial"/>
                <a:ea typeface="Arial"/>
                <a:cs typeface="Arial"/>
                <a:sym typeface="Arial"/>
              </a:rPr>
              <a:t>Font Size (Heading): 28</a:t>
            </a:r>
            <a:endParaRPr/>
          </a:p>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Font Size (Content): 20</a:t>
            </a:r>
            <a:endParaRPr/>
          </a:p>
        </p:txBody>
      </p:sp>
      <p:pic>
        <p:nvPicPr>
          <p:cNvPr id="3" name="Picture 2">
            <a:extLst>
              <a:ext uri="{FF2B5EF4-FFF2-40B4-BE49-F238E27FC236}">
                <a16:creationId xmlns:a16="http://schemas.microsoft.com/office/drawing/2014/main" id="{201737B1-095F-DC1F-5F67-8EDDC9284341}"/>
              </a:ext>
            </a:extLst>
          </p:cNvPr>
          <p:cNvPicPr>
            <a:picLocks noChangeAspect="1"/>
          </p:cNvPicPr>
          <p:nvPr/>
        </p:nvPicPr>
        <p:blipFill>
          <a:blip r:embed="rId3"/>
          <a:stretch>
            <a:fillRect/>
          </a:stretch>
        </p:blipFill>
        <p:spPr>
          <a:xfrm>
            <a:off x="4147307" y="3651206"/>
            <a:ext cx="1336433" cy="11902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013353"/>
            <a:ext cx="10607040" cy="5693826"/>
          </a:xfrm>
          <a:prstGeom prst="rect">
            <a:avLst/>
          </a:prstGeom>
          <a:noFill/>
          <a:ln>
            <a:noFill/>
          </a:ln>
        </p:spPr>
        <p:txBody>
          <a:bodyPr spcFirstLastPara="1" wrap="square" lIns="91425" tIns="45700" rIns="91425" bIns="45700" anchor="t" anchorCtr="0">
            <a:spAutoFit/>
          </a:bodyPr>
          <a:lstStyle/>
          <a:p>
            <a:r>
              <a:rPr lang="en-IN" sz="1600" b="1" dirty="0"/>
              <a:t>Problem Statement: </a:t>
            </a:r>
            <a:r>
              <a:rPr lang="en-IN" sz="1600" b="1" dirty="0" err="1"/>
              <a:t>ResearchPilot</a:t>
            </a:r>
            <a:r>
              <a:rPr lang="en-IN" sz="1600" b="1" dirty="0"/>
              <a:t> AI</a:t>
            </a:r>
          </a:p>
          <a:p>
            <a:endParaRPr lang="en-IN" sz="1600" b="1" dirty="0"/>
          </a:p>
          <a:p>
            <a:r>
              <a:rPr lang="en-IN" sz="1600" b="1" dirty="0"/>
              <a:t>The Challenge</a:t>
            </a:r>
          </a:p>
          <a:p>
            <a:r>
              <a:rPr lang="en-IN" sz="1600" dirty="0"/>
              <a:t>Researchers and students spend significant time searching for relevant research papers, understanding complex content, and identifying research gaps. Academic information is spread across multiple sources, making literature review time-consuming and inefficient.</a:t>
            </a:r>
          </a:p>
          <a:p>
            <a:endParaRPr lang="en-IN" sz="1600" dirty="0"/>
          </a:p>
          <a:p>
            <a:r>
              <a:rPr lang="en-IN" sz="1600" b="1" dirty="0"/>
              <a:t>The Objective</a:t>
            </a:r>
          </a:p>
          <a:p>
            <a:r>
              <a:rPr lang="en-IN" sz="1600" dirty="0"/>
              <a:t>Build an </a:t>
            </a:r>
            <a:r>
              <a:rPr lang="en-IN" sz="1600" b="1" dirty="0"/>
              <a:t>AI-powered Research Assistant</a:t>
            </a:r>
            <a:r>
              <a:rPr lang="en-IN" sz="1600" dirty="0"/>
              <a:t> that provides </a:t>
            </a:r>
            <a:r>
              <a:rPr lang="en-IN" sz="1600" b="1" dirty="0"/>
              <a:t>intelligent literature discovery and research support</a:t>
            </a:r>
            <a:r>
              <a:rPr lang="en-IN" sz="1600" dirty="0"/>
              <a:t>. The solution should:</a:t>
            </a:r>
          </a:p>
          <a:p>
            <a:r>
              <a:rPr lang="en-IN" sz="1600" b="1" dirty="0"/>
              <a:t>Smart Literature Search</a:t>
            </a:r>
            <a:r>
              <a:rPr lang="en-IN" sz="1600" dirty="0"/>
              <a:t> – Find relevant research papers using natural language queries. </a:t>
            </a:r>
          </a:p>
          <a:p>
            <a:r>
              <a:rPr lang="en-IN" sz="1600" b="1" dirty="0"/>
              <a:t>Research RAG Retrieval</a:t>
            </a:r>
            <a:r>
              <a:rPr lang="en-IN" sz="1600" dirty="0"/>
              <a:t> – Retrieve, summarize, and explain research papers with reliable citations. </a:t>
            </a:r>
          </a:p>
          <a:p>
            <a:r>
              <a:rPr lang="en-IN" sz="1600" b="1" dirty="0"/>
              <a:t>Paper Analysis &amp; Comparison</a:t>
            </a:r>
            <a:r>
              <a:rPr lang="en-IN" sz="1600" dirty="0"/>
              <a:t> – Compare multiple papers and highlight key insights, methodologies, and differences. </a:t>
            </a:r>
          </a:p>
          <a:p>
            <a:r>
              <a:rPr lang="en-IN" sz="1600" b="1" dirty="0"/>
              <a:t>Research Idea Generation</a:t>
            </a:r>
            <a:r>
              <a:rPr lang="en-IN" sz="1600" dirty="0"/>
              <a:t> – Identify research gaps and suggest future research directions. </a:t>
            </a:r>
          </a:p>
          <a:p>
            <a:r>
              <a:rPr lang="en-IN" sz="1600" b="1" dirty="0"/>
              <a:t>Multi-Agent System</a:t>
            </a:r>
            <a:r>
              <a:rPr lang="en-IN" sz="1600" dirty="0"/>
              <a:t> </a:t>
            </a:r>
          </a:p>
          <a:p>
            <a:pPr lvl="1"/>
            <a:r>
              <a:rPr lang="en-IN" sz="1600" b="1" dirty="0"/>
              <a:t>Literature Search Agent</a:t>
            </a:r>
            <a:r>
              <a:rPr lang="en-IN" sz="1600" dirty="0"/>
              <a:t> </a:t>
            </a:r>
            <a:r>
              <a:rPr lang="en-IN" sz="1600" i="1" dirty="0"/>
              <a:t>(retrieves relevant papers)</a:t>
            </a:r>
            <a:r>
              <a:rPr lang="en-IN" sz="1600" dirty="0"/>
              <a:t> </a:t>
            </a:r>
          </a:p>
          <a:p>
            <a:pPr lvl="1"/>
            <a:r>
              <a:rPr lang="en-IN" sz="1600" b="1" dirty="0"/>
              <a:t>Research Analysis Agent</a:t>
            </a:r>
            <a:r>
              <a:rPr lang="en-IN" sz="1600" dirty="0"/>
              <a:t> </a:t>
            </a:r>
            <a:r>
              <a:rPr lang="en-IN" sz="1600" i="1" dirty="0"/>
              <a:t>(summarizes and explains papers)</a:t>
            </a:r>
            <a:r>
              <a:rPr lang="en-IN" sz="1600" dirty="0"/>
              <a:t> </a:t>
            </a:r>
          </a:p>
          <a:p>
            <a:pPr lvl="1"/>
            <a:r>
              <a:rPr lang="en-IN" sz="1600" b="1" dirty="0"/>
              <a:t>Paper Comparison Agent</a:t>
            </a:r>
            <a:r>
              <a:rPr lang="en-IN" sz="1600" dirty="0"/>
              <a:t> </a:t>
            </a:r>
            <a:r>
              <a:rPr lang="en-IN" sz="1600" i="1" dirty="0"/>
              <a:t>(compares research papers)</a:t>
            </a:r>
            <a:r>
              <a:rPr lang="en-IN" sz="1600" dirty="0"/>
              <a:t> </a:t>
            </a:r>
          </a:p>
          <a:p>
            <a:pPr lvl="1"/>
            <a:r>
              <a:rPr lang="en-IN" sz="1600" b="1" dirty="0"/>
              <a:t>Research Assistant Agent</a:t>
            </a:r>
            <a:r>
              <a:rPr lang="en-IN" sz="1600" dirty="0"/>
              <a:t> </a:t>
            </a:r>
            <a:r>
              <a:rPr lang="en-IN" sz="1600" i="1" dirty="0"/>
              <a:t>(answers research questions and supports academic writing)</a:t>
            </a:r>
            <a:r>
              <a:rPr lang="en-IN" sz="1600" dirty="0"/>
              <a:t> </a:t>
            </a:r>
          </a:p>
          <a:p>
            <a:r>
              <a:rPr lang="en-IN" sz="1600" b="1" dirty="0"/>
              <a:t>Research Dashboard</a:t>
            </a:r>
            <a:r>
              <a:rPr lang="en-IN" sz="1600" dirty="0"/>
              <a:t> – Organize papers, track progress, and visualize research insights.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5516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Problem Statement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3775" y="587447"/>
            <a:ext cx="10607040" cy="59708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600" b="1" i="0" u="none" strike="noStrike" cap="none" dirty="0">
              <a:solidFill>
                <a:srgbClr val="000000"/>
              </a:solidFill>
              <a:latin typeface="Arial"/>
              <a:ea typeface="Arial"/>
              <a:cs typeface="Arial"/>
              <a:sym typeface="Arial"/>
            </a:endParaRPr>
          </a:p>
          <a:p>
            <a:r>
              <a:rPr lang="en-IN" sz="1600" b="1" dirty="0"/>
              <a:t>Proposed Solution: </a:t>
            </a:r>
            <a:r>
              <a:rPr lang="en-IN" sz="1600" b="1" dirty="0" err="1"/>
              <a:t>ResearchPilot</a:t>
            </a:r>
            <a:r>
              <a:rPr lang="en-IN" sz="1600" b="1" dirty="0"/>
              <a:t> AI</a:t>
            </a:r>
          </a:p>
          <a:p>
            <a:r>
              <a:rPr lang="en-IN" sz="1600" dirty="0"/>
              <a:t>The proposed solution is a </a:t>
            </a:r>
            <a:r>
              <a:rPr lang="en-IN" sz="1600" b="1" dirty="0"/>
              <a:t>multi-agent AI-powered Research Assistant</a:t>
            </a:r>
            <a:r>
              <a:rPr lang="en-IN" sz="1600" dirty="0"/>
              <a:t> built using </a:t>
            </a:r>
            <a:r>
              <a:rPr lang="en-IN" sz="1600" b="1" dirty="0" err="1"/>
              <a:t>LangFlow</a:t>
            </a:r>
            <a:r>
              <a:rPr lang="en-IN" sz="1600" b="1" dirty="0"/>
              <a:t>, IBM watsonx.ai, and Granite Models</a:t>
            </a:r>
            <a:r>
              <a:rPr lang="en-IN" sz="1600" dirty="0"/>
              <a:t> to simplify academic research through intelligent literature discovery, analysis, and personalized research support. The system addresses the challenges of finding relevant papers, understanding complex research, and identifying research gaps using a modular AI architecture.</a:t>
            </a:r>
          </a:p>
          <a:p>
            <a:r>
              <a:rPr lang="en-IN" sz="1600" dirty="0"/>
              <a:t>At its core, the solution uses a </a:t>
            </a:r>
            <a:r>
              <a:rPr lang="en-IN" sz="1600" b="1" dirty="0"/>
              <a:t>Retrieval-Augmented Generation (RAG)</a:t>
            </a:r>
            <a:r>
              <a:rPr lang="en-IN" sz="1600" dirty="0"/>
              <a:t> pipeline to retrieve research papers and academic documents from trusted sources. The documents are embedded and stored in a vector database, enabling the system to provide accurate summaries, contextual answers, and citation-aware responses using </a:t>
            </a:r>
            <a:r>
              <a:rPr lang="en-IN" sz="1600" b="1" dirty="0"/>
              <a:t>IBM Granite models</a:t>
            </a:r>
            <a:r>
              <a:rPr lang="en-IN" sz="1600" dirty="0"/>
              <a:t>. </a:t>
            </a:r>
          </a:p>
          <a:p>
            <a:r>
              <a:rPr lang="en-IN" sz="1600" b="1" dirty="0"/>
              <a:t>Literature Search Agent</a:t>
            </a:r>
            <a:r>
              <a:rPr lang="en-IN" sz="1600" dirty="0"/>
              <a:t> retrieves relevant research papers based on natural language queries. </a:t>
            </a:r>
          </a:p>
          <a:p>
            <a:r>
              <a:rPr lang="en-IN" sz="1600" b="1" dirty="0"/>
              <a:t>Research Analysis Agent</a:t>
            </a:r>
            <a:r>
              <a:rPr lang="en-IN" sz="1600" dirty="0"/>
              <a:t> summarizes papers, extracts key findings, methodologies, and conclusions. </a:t>
            </a:r>
          </a:p>
          <a:p>
            <a:r>
              <a:rPr lang="en-IN" sz="1600" b="1" dirty="0"/>
              <a:t>Paper Comparison Agent</a:t>
            </a:r>
            <a:r>
              <a:rPr lang="en-IN" sz="1600" dirty="0"/>
              <a:t> compares multiple papers to identify similarities, differences, strengths, and research trends. </a:t>
            </a:r>
          </a:p>
          <a:p>
            <a:r>
              <a:rPr lang="en-IN" sz="1600" b="1" dirty="0"/>
              <a:t>Research Assistant Agent</a:t>
            </a:r>
            <a:r>
              <a:rPr lang="en-IN" sz="1600" dirty="0"/>
              <a:t> answers research questions, identifies research gaps, and suggests future research directions. </a:t>
            </a:r>
          </a:p>
          <a:p>
            <a:r>
              <a:rPr lang="en-IN" sz="1600" dirty="0"/>
              <a:t>The solution includes an intuitive dashboard (built with </a:t>
            </a:r>
            <a:r>
              <a:rPr lang="en-IN" sz="1600" b="1" dirty="0"/>
              <a:t>React</a:t>
            </a:r>
            <a:r>
              <a:rPr lang="en-IN" sz="1600" dirty="0"/>
              <a:t> or </a:t>
            </a:r>
            <a:r>
              <a:rPr lang="en-IN" sz="1600" b="1" dirty="0" err="1"/>
              <a:t>Streamlit</a:t>
            </a:r>
            <a:r>
              <a:rPr lang="en-IN" sz="1600" dirty="0"/>
              <a:t>) where users can search papers, manage their research library, compare studies, and track their research progress.</a:t>
            </a:r>
          </a:p>
          <a:p>
            <a:r>
              <a:rPr lang="en-IN" sz="1600" b="1" dirty="0" err="1"/>
              <a:t>LangFlow</a:t>
            </a:r>
            <a:r>
              <a:rPr lang="en-IN" sz="1600" dirty="0"/>
              <a:t> orchestrates the multi-agent workflow, while </a:t>
            </a:r>
            <a:r>
              <a:rPr lang="en-IN" sz="1600" b="1" dirty="0"/>
              <a:t>IBM watsonx.ai</a:t>
            </a:r>
            <a:r>
              <a:rPr lang="en-IN" sz="1600" dirty="0"/>
              <a:t> provides scalable model deployment, embeddings, and AI governance. </a:t>
            </a:r>
            <a:r>
              <a:rPr lang="en-IN" sz="1600" b="1" dirty="0"/>
              <a:t>Granite models</a:t>
            </a:r>
            <a:r>
              <a:rPr lang="en-IN" sz="1600" dirty="0"/>
              <a:t> power reasoning, summarization, comparison, and intelligent research assistance.</a:t>
            </a:r>
          </a:p>
          <a:p>
            <a:r>
              <a:rPr lang="en-IN" sz="1600" dirty="0"/>
              <a:t>Overall, </a:t>
            </a:r>
            <a:r>
              <a:rPr lang="en-IN" sz="1600" b="1" dirty="0" err="1"/>
              <a:t>ResearchPilot</a:t>
            </a:r>
            <a:r>
              <a:rPr lang="en-IN" sz="1600" b="1" dirty="0"/>
              <a:t> AI</a:t>
            </a:r>
            <a:r>
              <a:rPr lang="en-IN" sz="1600" dirty="0"/>
              <a:t> delivers an end-to-end AI research assistant that accelerates literature review, enhances research productivity, and helps users make informed, evidence-based decisions.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618405" y="341175"/>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Technology Used</a:t>
            </a:r>
            <a:endParaRPr sz="2400" b="1" i="0" u="none" strike="noStrike" cap="none" dirty="0">
              <a:solidFill>
                <a:srgbClr val="000000"/>
              </a:solidFill>
              <a:latin typeface="Arial"/>
              <a:ea typeface="Arial"/>
              <a:cs typeface="Arial"/>
              <a:sym typeface="Arial"/>
            </a:endParaRPr>
          </a:p>
        </p:txBody>
      </p:sp>
      <p:sp>
        <p:nvSpPr>
          <p:cNvPr id="108" name="Google Shape;108;p36"/>
          <p:cNvSpPr txBox="1"/>
          <p:nvPr/>
        </p:nvSpPr>
        <p:spPr>
          <a:xfrm>
            <a:off x="777240" y="1207008"/>
            <a:ext cx="10515600" cy="5509160"/>
          </a:xfrm>
          <a:prstGeom prst="rect">
            <a:avLst/>
          </a:prstGeom>
          <a:noFill/>
          <a:ln>
            <a:noFill/>
          </a:ln>
        </p:spPr>
        <p:txBody>
          <a:bodyPr spcFirstLastPara="1" wrap="square" lIns="91425" tIns="45700" rIns="91425" bIns="45700" anchor="t" anchorCtr="0">
            <a:spAutoFit/>
          </a:bodyPr>
          <a:lstStyle/>
          <a:p>
            <a:pPr marL="400050" lvl="0" indent="-285750">
              <a:buSzPts val="1800"/>
              <a:buFont typeface="Arial" panose="020B0604020202020204" pitchFamily="34" charset="0"/>
              <a:buChar char="•"/>
            </a:pPr>
            <a:r>
              <a:rPr lang="en-IN" sz="1800" b="1" dirty="0" err="1"/>
              <a:t>LangFlow</a:t>
            </a:r>
            <a:r>
              <a:rPr lang="en-IN" sz="1800" dirty="0"/>
              <a:t> – Multi-agent workflow orchestration. </a:t>
            </a:r>
          </a:p>
          <a:p>
            <a:pPr marL="400050" lvl="0" indent="-285750">
              <a:buSzPts val="1800"/>
              <a:buFont typeface="Arial" panose="020B0604020202020204" pitchFamily="34" charset="0"/>
              <a:buChar char="•"/>
            </a:pPr>
            <a:endParaRPr lang="en-IN" sz="1800" dirty="0"/>
          </a:p>
          <a:p>
            <a:pPr marL="400050" lvl="0" indent="-285750">
              <a:buSzPts val="1800"/>
              <a:buFont typeface="Arial" panose="020B0604020202020204" pitchFamily="34" charset="0"/>
              <a:buChar char="•"/>
            </a:pPr>
            <a:r>
              <a:rPr lang="en-IN" sz="1800" b="1" dirty="0"/>
              <a:t>IBM Granite Model (ibm-granite-3-2-8b)</a:t>
            </a:r>
            <a:r>
              <a:rPr lang="en-IN" sz="1800" dirty="0"/>
              <a:t> – Research paper summarization, reasoning, and question answering. </a:t>
            </a:r>
          </a:p>
          <a:p>
            <a:pPr marL="400050" lvl="0" indent="-285750">
              <a:buSzPts val="1800"/>
              <a:buFont typeface="Arial" panose="020B0604020202020204" pitchFamily="34" charset="0"/>
              <a:buChar char="•"/>
            </a:pPr>
            <a:endParaRPr lang="en-IN" sz="1800" dirty="0"/>
          </a:p>
          <a:p>
            <a:pPr marL="400050" lvl="0" indent="-285750">
              <a:buSzPts val="1800"/>
              <a:buFont typeface="Arial" panose="020B0604020202020204" pitchFamily="34" charset="0"/>
              <a:buChar char="•"/>
            </a:pPr>
            <a:r>
              <a:rPr lang="en-IN" sz="1800" b="1" dirty="0"/>
              <a:t>IBM watsonx.ai</a:t>
            </a:r>
            <a:r>
              <a:rPr lang="en-IN" sz="1800" dirty="0"/>
              <a:t> – Model deployment, embeddings, and AI governance.</a:t>
            </a:r>
          </a:p>
          <a:p>
            <a:pPr marL="400050" lvl="0" indent="-285750">
              <a:buSzPts val="1800"/>
              <a:buFont typeface="Arial" panose="020B0604020202020204" pitchFamily="34" charset="0"/>
              <a:buChar char="•"/>
            </a:pPr>
            <a:endParaRPr lang="en-IN" sz="1800" dirty="0"/>
          </a:p>
          <a:p>
            <a:pPr marL="400050" lvl="0" indent="-285750">
              <a:buSzPts val="1800"/>
              <a:buFont typeface="Arial" panose="020B0604020202020204" pitchFamily="34" charset="0"/>
              <a:buChar char="•"/>
            </a:pPr>
            <a:r>
              <a:rPr lang="en-IN" sz="1800" b="1" dirty="0"/>
              <a:t>Retrieval-Augmented Generation (RAG)</a:t>
            </a:r>
            <a:r>
              <a:rPr lang="en-IN" sz="1800" dirty="0"/>
              <a:t> – Context-aware retrieval of research papers. </a:t>
            </a:r>
          </a:p>
          <a:p>
            <a:pPr marL="400050" lvl="0" indent="-285750">
              <a:buSzPts val="1800"/>
              <a:buFont typeface="Arial" panose="020B0604020202020204" pitchFamily="34" charset="0"/>
              <a:buChar char="•"/>
            </a:pPr>
            <a:endParaRPr lang="en-IN" sz="1800" dirty="0"/>
          </a:p>
          <a:p>
            <a:pPr marL="400050" lvl="0" indent="-285750">
              <a:buSzPts val="1800"/>
              <a:buFont typeface="Arial" panose="020B0604020202020204" pitchFamily="34" charset="0"/>
              <a:buChar char="•"/>
            </a:pPr>
            <a:r>
              <a:rPr lang="en-IN" sz="1800" b="1" dirty="0"/>
              <a:t>FAISS Vector Database</a:t>
            </a:r>
            <a:r>
              <a:rPr lang="en-IN" sz="1800" dirty="0"/>
              <a:t> – Semantic search and document retrieval. </a:t>
            </a:r>
          </a:p>
          <a:p>
            <a:pPr marL="400050" lvl="0" indent="-285750">
              <a:buSzPts val="1800"/>
              <a:buFont typeface="Arial" panose="020B0604020202020204" pitchFamily="34" charset="0"/>
              <a:buChar char="•"/>
            </a:pPr>
            <a:endParaRPr lang="en-IN" sz="1800" dirty="0"/>
          </a:p>
          <a:p>
            <a:pPr marL="400050" lvl="0" indent="-285750">
              <a:buSzPts val="1800"/>
              <a:buFont typeface="Arial" panose="020B0604020202020204" pitchFamily="34" charset="0"/>
              <a:buChar char="•"/>
            </a:pPr>
            <a:r>
              <a:rPr lang="en-IN" sz="1800" b="1" dirty="0" err="1"/>
              <a:t>FastAPI</a:t>
            </a:r>
            <a:r>
              <a:rPr lang="en-IN" sz="1800" dirty="0"/>
              <a:t> – Backend API development. </a:t>
            </a:r>
          </a:p>
          <a:p>
            <a:pPr marL="400050" lvl="0" indent="-285750">
              <a:buSzPts val="1800"/>
              <a:buFont typeface="Arial" panose="020B0604020202020204" pitchFamily="34" charset="0"/>
              <a:buChar char="•"/>
            </a:pPr>
            <a:endParaRPr lang="en-IN" sz="1800" dirty="0"/>
          </a:p>
          <a:p>
            <a:pPr marL="400050" lvl="0" indent="-285750">
              <a:buSzPts val="1800"/>
              <a:buFont typeface="Arial" panose="020B0604020202020204" pitchFamily="34" charset="0"/>
              <a:buChar char="•"/>
            </a:pPr>
            <a:r>
              <a:rPr lang="en-IN" sz="1800" b="1" dirty="0"/>
              <a:t>React + Vite</a:t>
            </a:r>
            <a:r>
              <a:rPr lang="en-IN" sz="1800" dirty="0"/>
              <a:t> – Frontend development. </a:t>
            </a:r>
          </a:p>
          <a:p>
            <a:pPr marL="400050" lvl="0" indent="-285750">
              <a:buSzPts val="1800"/>
              <a:buFont typeface="Arial" panose="020B0604020202020204" pitchFamily="34" charset="0"/>
              <a:buChar char="•"/>
            </a:pPr>
            <a:endParaRPr lang="en-IN" sz="1800" dirty="0"/>
          </a:p>
          <a:p>
            <a:pPr marL="400050" lvl="0" indent="-285750">
              <a:buSzPts val="1800"/>
              <a:buFont typeface="Arial" panose="020B0604020202020204" pitchFamily="34" charset="0"/>
              <a:buChar char="•"/>
            </a:pPr>
            <a:r>
              <a:rPr lang="en-IN" sz="1800" b="1" dirty="0"/>
              <a:t>SQLite</a:t>
            </a:r>
            <a:r>
              <a:rPr lang="en-IN" sz="1800" dirty="0"/>
              <a:t> – Database for user data and research history. </a:t>
            </a:r>
          </a:p>
          <a:p>
            <a:pPr marL="400050" lvl="0" indent="-285750">
              <a:buSzPts val="1800"/>
              <a:buFont typeface="Arial" panose="020B0604020202020204" pitchFamily="34" charset="0"/>
              <a:buChar char="•"/>
            </a:pPr>
            <a:endParaRPr lang="en-IN" sz="1800" dirty="0"/>
          </a:p>
          <a:p>
            <a:pPr marL="400050" lvl="0" indent="-285750">
              <a:buSzPts val="1800"/>
              <a:buFont typeface="Arial" panose="020B0604020202020204" pitchFamily="34" charset="0"/>
              <a:buChar char="•"/>
            </a:pPr>
            <a:r>
              <a:rPr lang="en-IN" sz="1800" b="1" dirty="0"/>
              <a:t>IBM Cloud</a:t>
            </a:r>
            <a:r>
              <a:rPr lang="en-IN" sz="1800" dirty="0"/>
              <a:t> – Application deployment and scalable cloud infrastructure.</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component Used -</a:t>
            </a: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8823960" cy="670948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200" b="0" i="0" u="none" strike="noStrike" cap="none" dirty="0">
              <a:solidFill>
                <a:srgbClr val="000000"/>
              </a:solidFill>
              <a:latin typeface="Arial"/>
              <a:ea typeface="Arial"/>
              <a:cs typeface="Arial"/>
              <a:sym typeface="Arial"/>
            </a:endParaRPr>
          </a:p>
          <a:p>
            <a:endParaRPr lang="en-IN" sz="1800" dirty="0"/>
          </a:p>
          <a:p>
            <a:pPr marL="342900" indent="-342900">
              <a:buFont typeface="+mj-lt"/>
              <a:buAutoNum type="arabicPeriod"/>
            </a:pPr>
            <a:r>
              <a:rPr lang="en-IN" sz="1800" b="1" dirty="0"/>
              <a:t>Chat Input</a:t>
            </a:r>
            <a:r>
              <a:rPr lang="en-IN" sz="1800" dirty="0"/>
              <a:t> – Accepts user research queries, topics, or uploaded paper requests.</a:t>
            </a:r>
          </a:p>
          <a:p>
            <a:pPr marL="342900" indent="-342900">
              <a:buFont typeface="+mj-lt"/>
              <a:buAutoNum type="arabicPeriod"/>
            </a:pPr>
            <a:endParaRPr lang="en-IN" sz="1800" dirty="0"/>
          </a:p>
          <a:p>
            <a:pPr marL="342900" indent="-342900">
              <a:buFont typeface="+mj-lt"/>
              <a:buAutoNum type="arabicPeriod"/>
            </a:pPr>
            <a:r>
              <a:rPr lang="en-IN" sz="1800" b="1" dirty="0"/>
              <a:t>IBM </a:t>
            </a:r>
            <a:r>
              <a:rPr lang="en-IN" sz="1800" b="1" dirty="0" err="1"/>
              <a:t>watsonx</a:t>
            </a:r>
            <a:r>
              <a:rPr lang="en-IN" sz="1800" b="1" dirty="0"/>
              <a:t> AI Agent</a:t>
            </a:r>
            <a:r>
              <a:rPr lang="en-IN" sz="1800" dirty="0"/>
              <a:t> – Processes research queries using IBM Granite models for summarization, analysis, comparison, and question answering.</a:t>
            </a:r>
          </a:p>
          <a:p>
            <a:pPr marL="342900" indent="-342900">
              <a:buFont typeface="+mj-lt"/>
              <a:buAutoNum type="arabicPeriod"/>
            </a:pPr>
            <a:endParaRPr lang="en-IN" sz="1800" dirty="0"/>
          </a:p>
          <a:p>
            <a:pPr marL="342900" indent="-342900">
              <a:buFont typeface="+mj-lt"/>
              <a:buAutoNum type="arabicPeriod"/>
            </a:pPr>
            <a:r>
              <a:rPr lang="en-IN" sz="1800" b="1" dirty="0"/>
              <a:t>IBM Granite Model</a:t>
            </a:r>
            <a:r>
              <a:rPr lang="en-IN" sz="1800" dirty="0"/>
              <a:t> – </a:t>
            </a:r>
            <a:r>
              <a:rPr lang="en-IN" sz="1800" b="1" dirty="0"/>
              <a:t>Granite-4.0-8B-Instruct</a:t>
            </a:r>
            <a:r>
              <a:rPr lang="en-IN" sz="1800" dirty="0"/>
              <a:t> → Fast and efficient for research paper summarization, reasoning, and academic assistance.</a:t>
            </a:r>
          </a:p>
          <a:p>
            <a:pPr marL="342900" indent="-342900">
              <a:buFont typeface="+mj-lt"/>
              <a:buAutoNum type="arabicPeriod"/>
            </a:pPr>
            <a:endParaRPr lang="en-IN" sz="1800" dirty="0"/>
          </a:p>
          <a:p>
            <a:pPr marL="342900" indent="-342900">
              <a:buFont typeface="+mj-lt"/>
              <a:buAutoNum type="arabicPeriod"/>
            </a:pPr>
            <a:r>
              <a:rPr lang="en-IN" sz="1800" b="1" dirty="0"/>
              <a:t>Chat Output</a:t>
            </a:r>
            <a:r>
              <a:rPr lang="en-IN" sz="1800" dirty="0"/>
              <a:t> – Displays AI-generated summaries, comparisons, citations, and research insights.</a:t>
            </a:r>
          </a:p>
          <a:p>
            <a:pPr marL="342900" indent="-342900">
              <a:buFont typeface="+mj-lt"/>
              <a:buAutoNum type="arabicPeriod"/>
            </a:pPr>
            <a:endParaRPr lang="en-IN" sz="1800" dirty="0"/>
          </a:p>
          <a:p>
            <a:pPr marL="342900" indent="-342900">
              <a:buFont typeface="+mj-lt"/>
              <a:buAutoNum type="arabicPeriod"/>
            </a:pPr>
            <a:r>
              <a:rPr lang="en-IN" sz="1800" b="1" dirty="0"/>
              <a:t>File Component</a:t>
            </a:r>
            <a:r>
              <a:rPr lang="en-IN" sz="1800" dirty="0"/>
              <a:t> – Uploads and stores research papers (PDFs) for analysis and RAG-based retrieval.</a:t>
            </a:r>
          </a:p>
          <a:p>
            <a:pPr marL="342900" indent="-342900">
              <a:buFont typeface="+mj-lt"/>
              <a:buAutoNum type="arabicPeriod"/>
            </a:pPr>
            <a:endParaRPr lang="en-IN" sz="1800" dirty="0"/>
          </a:p>
          <a:p>
            <a:pPr marL="342900" indent="-342900">
              <a:buFont typeface="+mj-lt"/>
              <a:buAutoNum type="arabicPeriod"/>
            </a:pPr>
            <a:r>
              <a:rPr lang="en-IN" sz="1800" b="1" dirty="0"/>
              <a:t>FAISS Vector Store (Retriever)</a:t>
            </a:r>
            <a:r>
              <a:rPr lang="en-IN" sz="1800" dirty="0"/>
              <a:t> – Stores document embeddings and retrieves the most relevant research content for the RAG pipeline.</a:t>
            </a:r>
          </a:p>
          <a:p>
            <a:pPr marL="431800" marR="0" lvl="0" indent="-342900" algn="l" rtl="0">
              <a:lnSpc>
                <a:spcPct val="100000"/>
              </a:lnSpc>
              <a:spcBef>
                <a:spcPts val="0"/>
              </a:spcBef>
              <a:spcAft>
                <a:spcPts val="0"/>
              </a:spcAft>
              <a:buClr>
                <a:srgbClr val="000000"/>
              </a:buClr>
              <a:buSzPts val="1400"/>
              <a:buFont typeface="+mj-lt"/>
              <a:buAutoNum type="arabicPeriod"/>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81D145BE-F1AB-32F1-700C-A1ABFE58B4EB}"/>
              </a:ext>
            </a:extLst>
          </p:cNvPr>
          <p:cNvPicPr>
            <a:picLocks noChangeAspect="1"/>
          </p:cNvPicPr>
          <p:nvPr/>
        </p:nvPicPr>
        <p:blipFill>
          <a:blip r:embed="rId3"/>
          <a:stretch>
            <a:fillRect/>
          </a:stretch>
        </p:blipFill>
        <p:spPr>
          <a:xfrm>
            <a:off x="856526" y="1007405"/>
            <a:ext cx="10648709" cy="541160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BEE42DE5-396D-384C-25C8-7A133A5E7232}"/>
              </a:ext>
            </a:extLst>
          </p:cNvPr>
          <p:cNvPicPr>
            <a:picLocks noChangeAspect="1"/>
          </p:cNvPicPr>
          <p:nvPr/>
        </p:nvPicPr>
        <p:blipFill>
          <a:blip r:embed="rId3"/>
          <a:stretch>
            <a:fillRect/>
          </a:stretch>
        </p:blipFill>
        <p:spPr>
          <a:xfrm>
            <a:off x="1125983" y="937549"/>
            <a:ext cx="9337091" cy="52549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3754834"/>
          </a:xfrm>
          <a:prstGeom prst="rect">
            <a:avLst/>
          </a:prstGeom>
          <a:noFill/>
          <a:ln>
            <a:noFill/>
          </a:ln>
        </p:spPr>
        <p:txBody>
          <a:bodyPr spcFirstLastPara="1" wrap="square" lIns="91425" tIns="45700" rIns="91425" bIns="45700" anchor="t" anchorCtr="0">
            <a:spAutoFit/>
          </a:bodyPr>
          <a:lstStyle/>
          <a:p>
            <a:r>
              <a:rPr lang="en-IN" b="1" dirty="0"/>
              <a:t>Role of Agentic AI in </a:t>
            </a:r>
            <a:r>
              <a:rPr lang="en-IN" b="1" dirty="0" err="1"/>
              <a:t>ResearchPilot</a:t>
            </a:r>
            <a:r>
              <a:rPr lang="en-IN" b="1" dirty="0"/>
              <a:t> AI</a:t>
            </a:r>
          </a:p>
          <a:p>
            <a:r>
              <a:rPr lang="en-IN" dirty="0"/>
              <a:t>Agentic AI enables </a:t>
            </a:r>
            <a:r>
              <a:rPr lang="en-IN" b="1" dirty="0" err="1"/>
              <a:t>ResearchPilot</a:t>
            </a:r>
            <a:r>
              <a:rPr lang="en-IN" b="1" dirty="0"/>
              <a:t> AI</a:t>
            </a:r>
            <a:r>
              <a:rPr lang="en-IN" dirty="0"/>
              <a:t> to function as an intelligent, autonomous research assistant rather than a simple chatbot. Powered by </a:t>
            </a:r>
            <a:r>
              <a:rPr lang="en-IN" b="1" dirty="0"/>
              <a:t>IBM watsonx.ai</a:t>
            </a:r>
            <a:r>
              <a:rPr lang="en-IN" dirty="0"/>
              <a:t> and </a:t>
            </a:r>
            <a:r>
              <a:rPr lang="en-IN" b="1" dirty="0"/>
              <a:t>IBM Granite</a:t>
            </a:r>
            <a:r>
              <a:rPr lang="en-IN" dirty="0"/>
              <a:t> models, it coordinates multiple specialized AI agents to automate different stages of the research process.</a:t>
            </a:r>
          </a:p>
          <a:p>
            <a:r>
              <a:rPr lang="en-IN" dirty="0"/>
              <a:t>Each agent performs a specific task, such as searching scholarly literature, summarizing research papers, answering questions from uploaded documents, comparing multiple papers, generating research ideas, and organizing references. These agents work together to provide accurate, efficient, and reliable research support.</a:t>
            </a:r>
          </a:p>
          <a:p>
            <a:r>
              <a:rPr lang="en-IN" dirty="0"/>
              <a:t>Agentic AI also brings </a:t>
            </a:r>
            <a:r>
              <a:rPr lang="en-IN" b="1" dirty="0"/>
              <a:t>context awareness</a:t>
            </a:r>
            <a:r>
              <a:rPr lang="en-IN" dirty="0"/>
              <a:t> by understanding the user's research topic, uploaded papers, and previous interactions to generate personalized and relevant responses. It continuously adapts its recommendations as new documents and queries are added, ensuring up-to-date assistance throughout the research journey.</a:t>
            </a:r>
          </a:p>
          <a:p>
            <a:r>
              <a:rPr lang="en-IN" dirty="0"/>
              <a:t>Overall, Agentic AI makes </a:t>
            </a:r>
            <a:r>
              <a:rPr lang="en-IN" b="1" dirty="0" err="1"/>
              <a:t>ResearchPilot</a:t>
            </a:r>
            <a:r>
              <a:rPr lang="en-IN" b="1" dirty="0"/>
              <a:t> AI</a:t>
            </a:r>
            <a:r>
              <a:rPr lang="en-IN" dirty="0"/>
              <a:t> proactive, collaborative, and goal-driven, helping students and researchers save time, gain deeper insights, and improve the quality and productivity of their research.</a:t>
            </a:r>
          </a:p>
          <a:p>
            <a:pPr marL="0" marR="0" lvl="0" indent="0" algn="l" rtl="0">
              <a:lnSpc>
                <a:spcPct val="100000"/>
              </a:lnSpc>
              <a:spcBef>
                <a:spcPts val="0"/>
              </a:spcBef>
              <a:spcAft>
                <a:spcPts val="0"/>
              </a:spcAf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11,761 token are used</a:t>
            </a:r>
            <a:endParaRPr/>
          </a:p>
        </p:txBody>
      </p:sp>
      <p:sp>
        <p:nvSpPr>
          <p:cNvPr id="151" name="Google Shape;151;p39"/>
          <p:cNvSpPr txBox="1"/>
          <p:nvPr/>
        </p:nvSpPr>
        <p:spPr>
          <a:xfrm>
            <a:off x="1278639" y="1718067"/>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Before Prompt</a:t>
            </a:r>
            <a:endParaRPr/>
          </a:p>
        </p:txBody>
      </p:sp>
      <p:sp>
        <p:nvSpPr>
          <p:cNvPr id="152" name="Google Shape;152;p39"/>
          <p:cNvSpPr txBox="1"/>
          <p:nvPr/>
        </p:nvSpPr>
        <p:spPr>
          <a:xfrm>
            <a:off x="7106828" y="1722919"/>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After the Prompt</a:t>
            </a:r>
            <a:endParaRPr/>
          </a:p>
        </p:txBody>
      </p:sp>
      <p:pic>
        <p:nvPicPr>
          <p:cNvPr id="3" name="Picture 2">
            <a:extLst>
              <a:ext uri="{FF2B5EF4-FFF2-40B4-BE49-F238E27FC236}">
                <a16:creationId xmlns:a16="http://schemas.microsoft.com/office/drawing/2014/main" id="{B69117F2-B5D9-A548-ADD0-97B3C21A7011}"/>
              </a:ext>
            </a:extLst>
          </p:cNvPr>
          <p:cNvPicPr>
            <a:picLocks noChangeAspect="1"/>
          </p:cNvPicPr>
          <p:nvPr/>
        </p:nvPicPr>
        <p:blipFill>
          <a:blip r:embed="rId3"/>
          <a:stretch>
            <a:fillRect/>
          </a:stretch>
        </p:blipFill>
        <p:spPr>
          <a:xfrm>
            <a:off x="278630" y="2385158"/>
            <a:ext cx="5608694" cy="2711076"/>
          </a:xfrm>
          <a:prstGeom prst="rect">
            <a:avLst/>
          </a:prstGeom>
        </p:spPr>
      </p:pic>
      <p:pic>
        <p:nvPicPr>
          <p:cNvPr id="5" name="Picture 4">
            <a:extLst>
              <a:ext uri="{FF2B5EF4-FFF2-40B4-BE49-F238E27FC236}">
                <a16:creationId xmlns:a16="http://schemas.microsoft.com/office/drawing/2014/main" id="{060FF447-C8F2-A7CA-886B-8892B770CDD9}"/>
              </a:ext>
            </a:extLst>
          </p:cNvPr>
          <p:cNvPicPr>
            <a:picLocks noChangeAspect="1"/>
          </p:cNvPicPr>
          <p:nvPr/>
        </p:nvPicPr>
        <p:blipFill>
          <a:blip r:embed="rId4"/>
          <a:stretch>
            <a:fillRect/>
          </a:stretch>
        </p:blipFill>
        <p:spPr>
          <a:xfrm>
            <a:off x="6131866" y="2367219"/>
            <a:ext cx="5781504" cy="279429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301984" cy="5047495"/>
          </a:xfrm>
          <a:prstGeom prst="rect">
            <a:avLst/>
          </a:prstGeom>
          <a:noFill/>
          <a:ln>
            <a:noFill/>
          </a:ln>
        </p:spPr>
        <p:txBody>
          <a:bodyPr spcFirstLastPara="1" wrap="square" lIns="91425" tIns="45700" rIns="91425" bIns="45700" anchor="t" anchorCtr="0">
            <a:spAutoFit/>
          </a:bodyPr>
          <a:lstStyle/>
          <a:p>
            <a:r>
              <a:rPr lang="en-IN" dirty="0"/>
              <a:t>The proposed </a:t>
            </a:r>
            <a:r>
              <a:rPr lang="en-IN" b="1" dirty="0" err="1"/>
              <a:t>ResearchPilot</a:t>
            </a:r>
            <a:r>
              <a:rPr lang="en-IN" b="1" dirty="0"/>
              <a:t> AI</a:t>
            </a:r>
            <a:r>
              <a:rPr lang="en-IN" dirty="0"/>
              <a:t> introduces several innovative features that distinguish it from traditional research assistants and paper summarization tools.</a:t>
            </a:r>
          </a:p>
          <a:p>
            <a:pPr marL="285750" indent="-285750">
              <a:buFont typeface="Arial" panose="020B0604020202020204" pitchFamily="34" charset="0"/>
              <a:buChar char="•"/>
            </a:pPr>
            <a:r>
              <a:rPr lang="en-IN" b="1" dirty="0"/>
              <a:t>Agentic Multi-Agent Architecture</a:t>
            </a:r>
            <a:r>
              <a:rPr lang="en-IN" dirty="0"/>
              <a:t> – Uses multiple autonomous AI agents that collaborate to perform different research tasks instead of relying on a single AI model.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Research Workflow Automation</a:t>
            </a:r>
            <a:r>
              <a:rPr lang="en-IN" dirty="0"/>
              <a:t> – Automates the complete research lifecycle, including literature search, paper analysis, comparison, summarization, idea generation, and citation support within one platform.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Context-Aware RAG Framework</a:t>
            </a:r>
            <a:r>
              <a:rPr lang="en-IN" dirty="0"/>
              <a:t> – Combines Retrieval-Augmented Generation (RAG) with conversation memory to provide accurate, context-aware, and personalized research assistance while minimizing hallucinations.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Gap &amp; Novelty Detection</a:t>
            </a:r>
            <a:r>
              <a:rPr lang="en-IN" dirty="0"/>
              <a:t> – </a:t>
            </a:r>
            <a:r>
              <a:rPr lang="en-IN" dirty="0" err="1"/>
              <a:t>Analyzes</a:t>
            </a:r>
            <a:r>
              <a:rPr lang="en-IN" dirty="0"/>
              <a:t> multiple research papers to identify unexplored areas, research gaps, and potential future directions, helping researchers discover novel opportunities.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Cross-Paper Intelligent Reasoning</a:t>
            </a:r>
            <a:r>
              <a:rPr lang="en-IN" dirty="0"/>
              <a:t> – Goes beyond summarization by connecting information across multiple papers to generate deeper insights and meaningful comparisons.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Human-Like Research Assistance</a:t>
            </a:r>
            <a:r>
              <a:rPr lang="en-IN" dirty="0"/>
              <a:t> – Maintains context across the research session, understands user goals, and adapts recommendations as new papers and queries are added.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Secure &amp; Scalable AI Platform</a:t>
            </a:r>
            <a:r>
              <a:rPr lang="en-IN" dirty="0"/>
              <a:t> – Built on </a:t>
            </a:r>
            <a:r>
              <a:rPr lang="en-IN" b="1" dirty="0"/>
              <a:t>IBM watsonx.ai</a:t>
            </a:r>
            <a:r>
              <a:rPr lang="en-IN" dirty="0"/>
              <a:t> with </a:t>
            </a:r>
            <a:r>
              <a:rPr lang="en-IN" b="1" dirty="0"/>
              <a:t>IBM Granite</a:t>
            </a:r>
            <a:r>
              <a:rPr lang="en-IN" dirty="0"/>
              <a:t> models, ensuring reliable, secure, and enterprise-ready AI capabilities.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pPr>
            <a:endParaRPr sz="240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686B5070-B0A5-9D48-D73D-E0C5CB8ADCD1}"/>
              </a:ext>
            </a:extLst>
          </p:cNvPr>
          <p:cNvSpPr txBox="1"/>
          <p:nvPr/>
        </p:nvSpPr>
        <p:spPr>
          <a:xfrm>
            <a:off x="2215896" y="2155913"/>
            <a:ext cx="7385304" cy="613245"/>
          </a:xfrm>
          <a:prstGeom prst="rect">
            <a:avLst/>
          </a:prstGeom>
          <a:noFill/>
        </p:spPr>
        <p:txBody>
          <a:bodyPr wrap="square">
            <a:spAutoFit/>
          </a:bodyPr>
          <a:lstStyle/>
          <a:p>
            <a:pPr lvl="0">
              <a:lnSpc>
                <a:spcPct val="162162"/>
              </a:lnSpc>
            </a:pPr>
            <a:r>
              <a:rPr lang="en-IN" sz="2400" dirty="0">
                <a:latin typeface="Times New Roman"/>
                <a:ea typeface="Times New Roman"/>
                <a:cs typeface="Times New Roman"/>
                <a:sym typeface="Times New Roman"/>
              </a:rPr>
              <a:t>https://github.com/Kanaksaxena15/ResearchPilot.git</a:t>
            </a:r>
            <a:endParaRPr lang="en-IN" sz="24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457200" y="1221715"/>
            <a:ext cx="9976104" cy="4277001"/>
          </a:xfrm>
          <a:prstGeom prst="rect">
            <a:avLst/>
          </a:prstGeom>
          <a:noFill/>
          <a:ln>
            <a:noFill/>
          </a:ln>
        </p:spPr>
        <p:txBody>
          <a:bodyPr spcFirstLastPara="1" wrap="square" lIns="0" tIns="0" rIns="0" bIns="0" anchor="t" anchorCtr="0">
            <a:noAutofit/>
          </a:bodyPr>
          <a:lstStyle/>
          <a:p>
            <a:r>
              <a:rPr lang="en-IN" sz="1600" b="1" dirty="0"/>
              <a:t>1. Real-Time Research Monitoring</a:t>
            </a:r>
          </a:p>
          <a:p>
            <a:r>
              <a:rPr lang="en-IN" sz="1600" dirty="0" err="1"/>
              <a:t>ResearchPilot</a:t>
            </a:r>
            <a:r>
              <a:rPr lang="en-IN" sz="1600" dirty="0"/>
              <a:t> AI can continuously monitor trusted research databases and notify users whenever new papers, journals, or breakthroughs related to their research topic are published. This will help researchers stay updated without manually searching for new literature.</a:t>
            </a:r>
          </a:p>
          <a:p>
            <a:endParaRPr lang="en-IN" sz="1600" dirty="0"/>
          </a:p>
          <a:p>
            <a:r>
              <a:rPr lang="en-IN" sz="1600" b="1" dirty="0"/>
              <a:t>2. AI-Based Research Proposal &amp; Report Generation</a:t>
            </a:r>
          </a:p>
          <a:p>
            <a:r>
              <a:rPr lang="en-IN" sz="1600" dirty="0"/>
              <a:t>Future versions can assist researchers in drafting research proposals, literature reviews, methodology sections, and technical reports. By using uploaded papers and user requirements, the AI can generate well-structured academic content, reducing writing effort.</a:t>
            </a:r>
          </a:p>
          <a:p>
            <a:endParaRPr lang="en-IN" sz="1600" dirty="0"/>
          </a:p>
          <a:p>
            <a:r>
              <a:rPr lang="en-IN" sz="1600" b="1" dirty="0"/>
              <a:t>3. Collaborative Research Workspace</a:t>
            </a:r>
          </a:p>
          <a:p>
            <a:r>
              <a:rPr lang="en-IN" sz="1600" dirty="0"/>
              <a:t>The platform can be expanded to support team-based research by allowing multiple users to share papers, annotations, AI-generated summaries, and project progress in a common workspace. This will improve collaboration among students, researchers, and faculty members.</a:t>
            </a:r>
          </a:p>
          <a:p>
            <a:endParaRPr lang="en-IN" sz="1600" dirty="0"/>
          </a:p>
          <a:p>
            <a:r>
              <a:rPr lang="en-IN" sz="1600" b="1" dirty="0"/>
              <a:t>4. Integration with Academic Databases</a:t>
            </a:r>
          </a:p>
          <a:p>
            <a:r>
              <a:rPr lang="en-IN" sz="1600" dirty="0" err="1"/>
              <a:t>ResearchPilot</a:t>
            </a:r>
            <a:r>
              <a:rPr lang="en-IN" sz="1600" dirty="0"/>
              <a:t> AI can be integrated with academic platforms such as </a:t>
            </a:r>
            <a:r>
              <a:rPr lang="en-IN" sz="1600" b="1" dirty="0" err="1"/>
              <a:t>arXiv</a:t>
            </a:r>
            <a:r>
              <a:rPr lang="en-IN" sz="1600" dirty="0"/>
              <a:t>, </a:t>
            </a:r>
            <a:r>
              <a:rPr lang="en-IN" sz="1600" b="1" dirty="0"/>
              <a:t>PubMed</a:t>
            </a:r>
            <a:r>
              <a:rPr lang="en-IN" sz="1600" dirty="0"/>
              <a:t>, </a:t>
            </a:r>
            <a:r>
              <a:rPr lang="en-IN" sz="1600" b="1" dirty="0"/>
              <a:t>IEEE Xplore</a:t>
            </a:r>
            <a:r>
              <a:rPr lang="en-IN" sz="1600" dirty="0"/>
              <a:t>, </a:t>
            </a:r>
            <a:r>
              <a:rPr lang="en-IN" sz="1600" b="1" dirty="0"/>
              <a:t>Springer</a:t>
            </a:r>
            <a:r>
              <a:rPr lang="en-IN" sz="1600" dirty="0"/>
              <a:t>, and other digital libraries. This will provide access to a larger collection of high-quality research papers and improve the accuracy and completeness of literature searches.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8D995A4D-D433-7968-238B-EEB750FE1C7C}"/>
              </a:ext>
            </a:extLst>
          </p:cNvPr>
          <p:cNvPicPr>
            <a:picLocks noChangeAspect="1"/>
          </p:cNvPicPr>
          <p:nvPr/>
        </p:nvPicPr>
        <p:blipFill>
          <a:blip r:embed="rId3"/>
          <a:stretch>
            <a:fillRect/>
          </a:stretch>
        </p:blipFill>
        <p:spPr>
          <a:xfrm>
            <a:off x="2374585" y="1240088"/>
            <a:ext cx="6987856" cy="480465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0DE11173-024C-76AB-DDDE-548AA7E386A0}"/>
              </a:ext>
            </a:extLst>
          </p:cNvPr>
          <p:cNvPicPr>
            <a:picLocks noChangeAspect="1"/>
          </p:cNvPicPr>
          <p:nvPr/>
        </p:nvPicPr>
        <p:blipFill>
          <a:blip r:embed="rId3"/>
          <a:stretch>
            <a:fillRect/>
          </a:stretch>
        </p:blipFill>
        <p:spPr>
          <a:xfrm>
            <a:off x="2006600" y="1108397"/>
            <a:ext cx="7581900" cy="464120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541020" y="213696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TotalTime>
  <Words>1393</Words>
  <Application>Microsoft Office PowerPoint</Application>
  <PresentationFormat>Widescreen</PresentationFormat>
  <Paragraphs>136</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Kanak Saxena</cp:lastModifiedBy>
  <cp:revision>2</cp:revision>
  <dcterms:created xsi:type="dcterms:W3CDTF">2025-07-08T05:06:56Z</dcterms:created>
  <dcterms:modified xsi:type="dcterms:W3CDTF">2026-07-12T19:39:47Z</dcterms:modified>
</cp:coreProperties>
</file>